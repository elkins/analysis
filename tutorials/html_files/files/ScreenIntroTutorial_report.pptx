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handoutMasterIdLst>
    <p:handoutMasterId r:id="rId2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E83"/>
    <a:srgbClr val="2E705C"/>
    <a:srgbClr val="89A024"/>
    <a:srgbClr val="A216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8"/>
    <p:restoredTop sz="96327"/>
  </p:normalViewPr>
  <p:slideViewPr>
    <p:cSldViewPr snapToGrid="0" showGuides="1">
      <p:cViewPr varScale="1">
        <p:scale>
          <a:sx n="133" d="100"/>
          <a:sy n="133" d="100"/>
        </p:scale>
        <p:origin x="62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05" d="100"/>
          <a:sy n="105" d="100"/>
        </p:scale>
        <p:origin x="35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handoutMaster" Target="handoutMasters/handout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23F580-D195-859D-9FCA-E0334EB881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0F7A5-F5DD-E336-C118-4FDA11565E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E9108-8403-9346-994C-754CE975162E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7FCAF-7A63-DCCE-1481-2A34F5E573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E4BE1-2BE2-9428-0CE4-36D85CDB43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787C-3683-E448-BE0C-31C86C0E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30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mment">
            <a:extLst>
              <a:ext uri="{FF2B5EF4-FFF2-40B4-BE49-F238E27FC236}">
                <a16:creationId xmlns:a16="http://schemas.microsoft.com/office/drawing/2014/main" id="{84E26E21-9596-4A3A-91FC-E9A0F43D1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386" y="5991451"/>
            <a:ext cx="11318420" cy="57127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10" name="Program Info">
            <a:extLst>
              <a:ext uri="{FF2B5EF4-FFF2-40B4-BE49-F238E27FC236}">
                <a16:creationId xmlns:a16="http://schemas.microsoft.com/office/drawing/2014/main" id="{32DD80F7-086D-78BD-ADFD-80FA4501CD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386" y="1729764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Program Info</a:t>
            </a:r>
            <a:endParaRPr lang="en-US" dirty="0"/>
          </a:p>
        </p:txBody>
      </p:sp>
      <p:sp>
        <p:nvSpPr>
          <p:cNvPr id="11" name="Data Paths">
            <a:extLst>
              <a:ext uri="{FF2B5EF4-FFF2-40B4-BE49-F238E27FC236}">
                <a16:creationId xmlns:a16="http://schemas.microsoft.com/office/drawing/2014/main" id="{A7C78260-354A-25F1-23E3-546670B3A2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3379" y="5101376"/>
            <a:ext cx="11318420" cy="820848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Data Paths</a:t>
            </a:r>
            <a:endParaRPr lang="en-US" dirty="0"/>
          </a:p>
        </p:txBody>
      </p:sp>
      <p:sp>
        <p:nvSpPr>
          <p:cNvPr id="3" name="Calculation Settings">
            <a:extLst>
              <a:ext uri="{FF2B5EF4-FFF2-40B4-BE49-F238E27FC236}">
                <a16:creationId xmlns:a16="http://schemas.microsoft.com/office/drawing/2014/main" id="{9B39E5B7-08AA-B76E-25E8-623EB7ECED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3380" y="2202032"/>
            <a:ext cx="5862639" cy="2819475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Calculation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2" name="Pipeline Settings">
            <a:extLst>
              <a:ext uri="{FF2B5EF4-FFF2-40B4-BE49-F238E27FC236}">
                <a16:creationId xmlns:a16="http://schemas.microsoft.com/office/drawing/2014/main" id="{C632CABB-876F-F4CD-40DB-C44AD7B2C7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29387" y="1009833"/>
            <a:ext cx="5222420" cy="4011673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Pipeline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7" name="Date-Time">
            <a:extLst>
              <a:ext uri="{FF2B5EF4-FFF2-40B4-BE49-F238E27FC236}">
                <a16:creationId xmlns:a16="http://schemas.microsoft.com/office/drawing/2014/main" id="{4D43CB8E-C7FD-3822-0DCD-EA726BAD7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381" y="1356177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Date-Time</a:t>
            </a:r>
            <a:endParaRPr lang="en-US" dirty="0"/>
          </a:p>
        </p:txBody>
      </p:sp>
      <p:sp>
        <p:nvSpPr>
          <p:cNvPr id="8" name="Operator">
            <a:extLst>
              <a:ext uri="{FF2B5EF4-FFF2-40B4-BE49-F238E27FC236}">
                <a16:creationId xmlns:a16="http://schemas.microsoft.com/office/drawing/2014/main" id="{C43A403E-E832-B6E8-C34A-40003849D6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386" y="985967"/>
            <a:ext cx="5862639" cy="32504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Operator</a:t>
            </a:r>
            <a:endParaRPr lang="en-US" dirty="0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31DD0E48-ACFD-380E-2CF4-8588EEF8FC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162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AA5CEA3-0605-F544-5964-0560B900D7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790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1494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tances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mmaryTable">
            <a:extLst>
              <a:ext uri="{FF2B5EF4-FFF2-40B4-BE49-F238E27FC236}">
                <a16:creationId xmlns:a16="http://schemas.microsoft.com/office/drawing/2014/main" id="{1595622D-3DC8-CB11-7640-C218D17D9008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440418" y="985967"/>
            <a:ext cx="11313432" cy="5312701"/>
          </a:xfr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Table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ED134BCB-6E83-13B6-413E-53742C814C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162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3681CB4-206D-B208-054C-602F4208711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790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62730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t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mment">
            <a:extLst>
              <a:ext uri="{FF2B5EF4-FFF2-40B4-BE49-F238E27FC236}">
                <a16:creationId xmlns:a16="http://schemas.microsoft.com/office/drawing/2014/main" id="{78B4B90A-54B5-0091-387B-449A38FFF7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24055" y="5908302"/>
            <a:ext cx="4042947" cy="356291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24" name="Plots">
            <a:extLst>
              <a:ext uri="{FF2B5EF4-FFF2-40B4-BE49-F238E27FC236}">
                <a16:creationId xmlns:a16="http://schemas.microsoft.com/office/drawing/2014/main" id="{1A76C59F-ADAF-4754-796D-B10A0347139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2212" y="1011050"/>
            <a:ext cx="7196145" cy="52535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Plots</a:t>
            </a:r>
          </a:p>
        </p:txBody>
      </p:sp>
      <p:sp>
        <p:nvSpPr>
          <p:cNvPr id="25" name="MolStructure">
            <a:extLst>
              <a:ext uri="{FF2B5EF4-FFF2-40B4-BE49-F238E27FC236}">
                <a16:creationId xmlns:a16="http://schemas.microsoft.com/office/drawing/2014/main" id="{BB018472-FC91-99D5-89EE-E29016427EF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24054" y="1007378"/>
            <a:ext cx="4042948" cy="1650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 err="1"/>
              <a:t>MolStructure</a:t>
            </a:r>
            <a:endParaRPr lang="en-US" dirty="0"/>
          </a:p>
        </p:txBody>
      </p:sp>
      <p:sp>
        <p:nvSpPr>
          <p:cNvPr id="26" name="Table">
            <a:extLst>
              <a:ext uri="{FF2B5EF4-FFF2-40B4-BE49-F238E27FC236}">
                <a16:creationId xmlns:a16="http://schemas.microsoft.com/office/drawing/2014/main" id="{1595622D-3DC8-CB11-7640-C218D17D9008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7724054" y="2679300"/>
            <a:ext cx="4042947" cy="3171322"/>
          </a:xfr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Table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150877C-78C3-C5D8-8B5F-50EFDA64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2961" y="6356349"/>
            <a:ext cx="1219299" cy="365125"/>
          </a:xfrm>
        </p:spPr>
        <p:txBody>
          <a:bodyPr/>
          <a:lstStyle/>
          <a:p>
            <a:r>
              <a:rPr lang="en-US" dirty="0"/>
              <a:t>Slide number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C7A74CD3-AE23-5249-41EC-7FA32508AA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162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CB2E8E37-BFF8-9AB3-183B-E6E4C7ED47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790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77429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A734E-B0AC-D8D0-4961-A80377E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10F9A-158E-FD5C-098A-19EA2E3B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AEB49-F5BF-D588-CEE3-464519949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F75C9-0359-FC42-A307-982A28152EDC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C12D-C326-E60E-15CB-6FFD90184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4B74-6D7B-14C8-F812-94579020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3412E-7DC2-7642-80E9-9CADEAF6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hyperlink" Target="#11" TargetMode="External"/><Relationship Id="rId11" Type="http://schemas.openxmlformats.org/officeDocument/2006/relationships/hyperlink" Target="#12" TargetMode="External"/><Relationship Id="rId2" Type="http://schemas.openxmlformats.org/officeDocument/2006/relationships/hyperlink" Target="#3" TargetMode="External"/><Relationship Id="rId3" Type="http://schemas.openxmlformats.org/officeDocument/2006/relationships/hyperlink" Target="#4" TargetMode="External"/><Relationship Id="rId4" Type="http://schemas.openxmlformats.org/officeDocument/2006/relationships/hyperlink" Target="#5" TargetMode="External"/><Relationship Id="rId5" Type="http://schemas.openxmlformats.org/officeDocument/2006/relationships/hyperlink" Target="#6" TargetMode="External"/><Relationship Id="rId6" Type="http://schemas.openxmlformats.org/officeDocument/2006/relationships/hyperlink" Target="#7" TargetMode="External"/><Relationship Id="rId7" Type="http://schemas.openxmlformats.org/officeDocument/2006/relationships/hyperlink" Target="#8" TargetMode="External"/><Relationship Id="rId8" Type="http://schemas.openxmlformats.org/officeDocument/2006/relationships/hyperlink" Target="#9" TargetMode="External"/><Relationship Id="rId9" Type="http://schemas.openxmlformats.org/officeDocument/2006/relationships/hyperlink" Target="#10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CcpNmr Screening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19F_Pipeline (Project: ScreenIntroTutorial_completed)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386" y="985967"/>
            <a:ext cx="5862639" cy="325044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latin typeface="Helvetica"/>
              </a:rPr>
              <a:t>Operator: Vicky Higman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381" y="1356177"/>
            <a:ext cx="5862639" cy="32504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latin typeface="Helvetica"/>
              </a:rPr>
              <a:t>Date/Time: 14/03/25 14-04-11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379" y="5101376"/>
            <a:ext cx="11318420" cy="820848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latin typeface="Helvetica"/>
              </a:rPr>
              <a:t>Data Paths:
- Control: /Users/vad5/Documents/Tutorials/data/3.1onwards/Screening/CcpnScreeningIntroTutorial/data
- Target: /Users/vad5/Documents/Tutorials/data/3.1onwards/Screening/CcpnScreeningIntroTutorial/data
- Displacer: /Users/vad5/Documents/Tutorials/data/3.1onwards/Screening/CcpnScreeningIntroTutorial/data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386" y="1729764"/>
            <a:ext cx="5862639" cy="32504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latin typeface="Helvetica"/>
              </a:rPr>
              <a:t>CcpNmr Version:  3.3.1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9387" y="1009833"/>
            <a:ext cx="5222420" cy="4011673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latin typeface="Helvetica"/>
              </a:rPr>
              <a:t>Pipeline Settings:
• Peak Picking Thresholds:
    - Mode: Auto
    - ManualThresholdLimits: [-1.0, 1.0]
• Propagate Peaks From References:
    - Propagate To: SG:Control
    - PeakList: Last
    - Snap Peaks: True
    - Max snap distance (ppm): 0.1
• Copy PeakLists:
    - Origin SpectrumGroup: SG:Control
    - Control SpectrumGroup: N/A
    - Target SpectrumGroup: SG:Target
    - Displacer SpectrumGroup: SG:Displacer
    - Destination PeakList: Last
    - Peak Properties: Snap_To_Extremum
    - Refit Peaks: False
    - Skip Below Merit: 0.5
    - rereferenceSpectra: Optimise With Local Alignments
    - Optimise With Local Alignments: True
• Setup Screening dataset:
    - Run Name: 19F_Pipeline
    - Origin SpectrumGroup: SG:Control
    - Control SpectrumGroup: SG:Control
    - Target SpectrumGroup: SG:Target
    - Displacer SpectrumGroup: SG:Displacer
    - Matching Engine: Annotation Match
    - Experiment Type: 19F
    - Use Substance referenceSpectra: True
    - AutoScale Control-Target Spectra: False
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380" y="2202032"/>
            <a:ext cx="5862639" cy="2819475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latin typeface="Helvetica"/>
              </a:rPr>
              <a:t>Hit Analysis Calculation Settings:
• Calculation Mode: Height 
• Calculation Engine: Absolute Relative Change 
• Displacement Engine: Displacement Fraction 
• Total Score Engine: Sum 
• Relative S/N Engine: Mean 
• Scale Delta Score: No 
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386" y="5991451"/>
            <a:ext cx="11318420" cy="571274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latin typeface="Helvetica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/>
        </p:nvSpPr>
        <p:spPr/>
      </p:sp>
      <p:sp>
        <p:nvSpPr>
          <p:cNvPr id="3" name="Text Placeholder 2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Substances 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0418" y="985967"/>
          <a:ext cx="11313432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179"/>
                <a:gridCol w="1414179"/>
                <a:gridCol w="1414179"/>
                <a:gridCol w="1414179"/>
                <a:gridCol w="1414179"/>
                <a:gridCol w="1414179"/>
                <a:gridCol w="1414179"/>
                <a:gridCol w="1414179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Index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Sample Name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Substance Name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Flag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Target_7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2"/>
                        </a:rPr>
                        <a:t>C705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0.88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14.44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2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Target_7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3"/>
                        </a:rPr>
                        <a:t>C701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0.3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12.16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4"/>
                        </a:rPr>
                        <a:t>C8015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0.66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14.33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4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Target_10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5"/>
                        </a:rPr>
                        <a:t>C10011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0.98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12.66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Target_6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6"/>
                        </a:rPr>
                        <a:t>C6020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13.12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6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7"/>
                        </a:rPr>
                        <a:t>C5012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0.72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12.78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7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Target_10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8"/>
                        </a:rPr>
                        <a:t>C10010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0.91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11.52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Target_4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9"/>
                        </a:rPr>
                        <a:t>C405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12.47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10"/>
                        </a:rPr>
                        <a:t>C902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0.7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15.77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10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Target_9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rPr>
                          <a:hlinkClick r:id="rId11"/>
                        </a:rPr>
                        <a:t>C906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16.3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None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C705 (Target_7)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1) Binding Score: 0.3 -- Displacement Score: 0.88 -- Matching Score: 5</a:t>
            </a:r>
          </a:p>
        </p:txBody>
      </p:sp>
      <p:pic>
        <p:nvPicPr>
          <p:cNvPr id="10" name="Picture 9" descr="C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PK:C705.1.1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0.88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14.44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-62.783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705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53" y="1011050"/>
            <a:ext cx="7035663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C701 (Target_7)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2) Binding Score: 0.3 -- Displacement Score: 0.68 -- Matching Score: 5</a:t>
            </a:r>
          </a:p>
        </p:txBody>
      </p:sp>
      <p:pic>
        <p:nvPicPr>
          <p:cNvPr id="10" name="Picture 9" descr="C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PK:C701.1.1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12.16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-59.544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701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4" y="1011050"/>
            <a:ext cx="7026381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C8015 (Target_8)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3) Binding Score: 0.3 -- Displacement Score: 0.66 -- Matching Score: 5</a:t>
            </a:r>
          </a:p>
        </p:txBody>
      </p:sp>
      <p:pic>
        <p:nvPicPr>
          <p:cNvPr id="10" name="Picture 9" descr="C8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PK:C8015.1.1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0.66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14.33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-86.813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8015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12" y="1036916"/>
            <a:ext cx="7196145" cy="5201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C10011 (Target_10)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4) Binding Score: 0.29 -- Displacement Score: 0.98 -- Matching Score: 5</a:t>
            </a:r>
          </a:p>
        </p:txBody>
      </p:sp>
      <p:pic>
        <p:nvPicPr>
          <p:cNvPr id="10" name="Picture 9" descr="C1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PK:C10011.1.1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0.98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12.66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-78.082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10011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4" y="1011050"/>
            <a:ext cx="7026381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C6020 (Target_6)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5) Binding Score: 0.29 -- Displacement Score: 0.9 -- Matching Score: 5</a:t>
            </a:r>
          </a:p>
        </p:txBody>
      </p:sp>
      <p:pic>
        <p:nvPicPr>
          <p:cNvPr id="10" name="Picture 9" descr="C6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PK:C6020.1.1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13.12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-56.753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6020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4" y="1011050"/>
            <a:ext cx="7026381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C5012 (Target_5)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6) Binding Score: 0.29 -- Displacement Score: 0.72 -- Matching Score: 5</a:t>
            </a:r>
          </a:p>
        </p:txBody>
      </p:sp>
      <p:pic>
        <p:nvPicPr>
          <p:cNvPr id="10" name="Picture 9" descr="C5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PK:C5012.1.1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0.72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12.78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-88.971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5012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4" y="1011050"/>
            <a:ext cx="7026381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C10010 (Target_10)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7) Binding Score: 0.29 -- Displacement Score: 0.91 -- Matching Score: 5</a:t>
            </a:r>
          </a:p>
        </p:txBody>
      </p:sp>
      <p:pic>
        <p:nvPicPr>
          <p:cNvPr id="10" name="Picture 9" descr="C1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PK:C10010.1.1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0.91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11.52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-80.602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10010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12" y="1050135"/>
            <a:ext cx="7196145" cy="51753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C405 (Target_4)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8) Binding Score: 0.29 -- Displacement Score: 0.68 -- Matching Score: 5</a:t>
            </a:r>
          </a:p>
        </p:txBody>
      </p:sp>
      <p:pic>
        <p:nvPicPr>
          <p:cNvPr id="10" name="Picture 9" descr="C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PK:C405.1.1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12.47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-73.491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405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12" y="1050135"/>
            <a:ext cx="7196145" cy="51753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C902 (Target_9)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9) Binding Score: 0.29 -- Displacement Score: 0.7 -- Matching Score: 5</a:t>
            </a:r>
          </a:p>
        </p:txBody>
      </p:sp>
      <p:pic>
        <p:nvPicPr>
          <p:cNvPr id="10" name="Picture 9" descr="C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PK:C902.1.1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0.7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15.77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-71.333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902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4" y="1011050"/>
            <a:ext cx="7026381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/>
        </p:nvSpPr>
        <p:spPr/>
      </p:sp>
      <p:sp>
        <p:nvSpPr>
          <p:cNvPr id="4" name="Picture Placeholder 3"/>
          <p:cNvSpPr>
            <a:spLocks noGrp="1"/>
          </p:cNvSpPr>
          <p:nvPr/>
        </p:nvSpPr>
        <p:spPr/>
      </p:sp>
      <p:sp>
        <p:nvSpPr>
          <p:cNvPr id="5" name="Table Placeholder 4"/>
          <p:cNvSpPr>
            <a:spLocks noGrp="1"/>
          </p:cNvSpPr>
          <p:nvPr/>
        </p:nvSpPr>
        <p:spPr/>
      </p:sp>
      <p:sp>
        <p:nvSpPr>
          <p:cNvPr id="6" name="Text Placeholder 5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/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6790" y="66675"/>
            <a:ext cx="11318420" cy="471247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0B4E83"/>
                </a:solidFill>
                <a:latin typeface="Helvetica"/>
              </a:rPr>
              <a:t>C906 (Target_9)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62" y="559332"/>
            <a:ext cx="11318420" cy="426636"/>
          </a:xfrm>
          <a:prstGeom prst="rect">
            <a:avLst/>
          </a:prstGeom>
          <a:noFill/>
        </p:spPr>
        <p:txBody>
          <a:bodyPr wrap="non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2E705C"/>
                </a:solidFill>
                <a:latin typeface="Helvetica"/>
              </a:rPr>
              <a:t>10) Binding Score: 0.29 -- Displacement Score: 0.68 -- Matching Score: 5</a:t>
            </a:r>
          </a:p>
        </p:txBody>
      </p:sp>
      <p:pic>
        <p:nvPicPr>
          <p:cNvPr id="10" name="Picture 9" descr="C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272" y="1007378"/>
            <a:ext cx="1650512" cy="16505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4054" y="2679300"/>
          <a:ext cx="4042947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73"/>
                <a:gridCol w="202147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Reference Peak Pid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rPr b="1"/>
                        <a:t>PK:C906.1.1</a:t>
                      </a:r>
                    </a:p>
                  </a:txBody>
                  <a:tcPr marT="1" marB="1" marL="1" marR="1" anchor="ctr">
                    <a:solidFill>
                      <a:srgbClr val="6A3B7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Binding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0.29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Matching Score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Displacement Score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0.68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Control S/N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16.3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Reference Position (ppm)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-86.632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Label</a:t>
                      </a: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C8C1C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r>
                        <a:t>Comment</a:t>
                      </a: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</a:p>
                  </a:txBody>
                  <a:tcPr marT="1" marB="1" marL="1" marR="1" anchor="ctr">
                    <a:solidFill>
                      <a:srgbClr val="EFEBF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U:C906.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4" y="1011050"/>
            <a:ext cx="7026381" cy="52535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4055" y="5908302"/>
            <a:ext cx="4042947" cy="356291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latin typeface="Helvetic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2961" y="6356349"/>
            <a:ext cx="1219299" cy="365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/>
            <a:r>
              <a:rPr sz="1200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Mureddu, Luca G.</dc:creator>
  <cp:lastModifiedBy>Mureddu, Luca G.</cp:lastModifiedBy>
  <cp:revision>102</cp:revision>
  <dcterms:created xsi:type="dcterms:W3CDTF">2023-06-13T12:33:19Z</dcterms:created>
  <dcterms:modified xsi:type="dcterms:W3CDTF">2025-01-20T12:42:26Z</dcterms:modified>
</cp:coreProperties>
</file>